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792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12DB3-D029-4636-9299-252240F47EC2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5AAF-3367-41F0-921C-9FD8B00C5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57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12DB3-D029-4636-9299-252240F47EC2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5AAF-3367-41F0-921C-9FD8B00C5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3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12DB3-D029-4636-9299-252240F47EC2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5AAF-3367-41F0-921C-9FD8B00C5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338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12DB3-D029-4636-9299-252240F47EC2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5AAF-3367-41F0-921C-9FD8B00C5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477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12DB3-D029-4636-9299-252240F47EC2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5AAF-3367-41F0-921C-9FD8B00C5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12DB3-D029-4636-9299-252240F47EC2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5AAF-3367-41F0-921C-9FD8B00C5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54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12DB3-D029-4636-9299-252240F47EC2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5AAF-3367-41F0-921C-9FD8B00C5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65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12DB3-D029-4636-9299-252240F47EC2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5AAF-3367-41F0-921C-9FD8B00C5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18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12DB3-D029-4636-9299-252240F47EC2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5AAF-3367-41F0-921C-9FD8B00C5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13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12DB3-D029-4636-9299-252240F47EC2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5AAF-3367-41F0-921C-9FD8B00C5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93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12DB3-D029-4636-9299-252240F47EC2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65AAF-3367-41F0-921C-9FD8B00C5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99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D08D1-3EE3-4FA8-A201-855E07F34E4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047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32C27-D5AC-4E5B-80BD-C42EE1D7BC5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35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75095-2D12-46D6-A9F4-E8C17A688CD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4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DDBB-F351-4AFF-AF2C-E5F07134BBD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193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D0DF-DC88-4610-9E39-6F2A19F4E7E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428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7AB94-7533-4B2C-A9E2-9BA91170EA1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2047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1F77-9E2B-42DC-9CAC-0BB8EA96E9F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788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863CD-7CC9-47E1-8F83-11DCB7452AF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5216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2989C-2654-4D69-846D-0583126372D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719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F5C37-8A83-42F9-9F18-CEECCC10A05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9413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3E64-3FE8-4EDF-9060-6070476E744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2829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ABE1B0B-E1FC-4A39-B684-E0724BEA815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9/24/2020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65F7D10F-D739-4374-BE18-EF13C215ADBA}" type="slidenum">
              <a:rPr lang="en-GB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189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12DB3-D029-4636-9299-252240F47EC2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65AAF-3367-41F0-921C-9FD8B00C5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74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C6F73-5240-4B30-AA72-563E97ADEBF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031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34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What Are Data?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229600" cy="4525963"/>
          </a:xfrm>
          <a:ln/>
        </p:spPr>
        <p:txBody>
          <a:bodyPr/>
          <a:lstStyle/>
          <a:p>
            <a:r>
              <a:rPr lang="en-US" dirty="0"/>
              <a:t>Data can be numbers, record names, or other labels.</a:t>
            </a:r>
          </a:p>
          <a:p>
            <a:r>
              <a:rPr lang="en-US" dirty="0"/>
              <a:t>Not all data represented by numbers are numerical data (e.g., 1=male, 2=female).</a:t>
            </a:r>
          </a:p>
          <a:p>
            <a:r>
              <a:rPr lang="en-US" dirty="0"/>
              <a:t>Regardless of their type, data are useless without their context. Because context is important, the “Five W’s” are important…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328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The “Five W’s”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dirty="0"/>
              <a:t>In order to provide context we are interested in the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Who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What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When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Where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Why (if possible)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and How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dirty="0"/>
              <a:t>of the data.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Note: the answers to “who” and “what” are essential.</a:t>
            </a:r>
          </a:p>
        </p:txBody>
      </p:sp>
      <p:pic>
        <p:nvPicPr>
          <p:cNvPr id="24580" name="Picture 4" descr="2__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362200"/>
            <a:ext cx="2362200" cy="179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901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Example of Data Organized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r>
              <a:rPr lang="en-US" dirty="0"/>
              <a:t>The following </a:t>
            </a:r>
            <a:r>
              <a:rPr lang="en-US" dirty="0">
                <a:solidFill>
                  <a:srgbClr val="FF0066"/>
                </a:solidFill>
              </a:rPr>
              <a:t>data table </a:t>
            </a:r>
            <a:r>
              <a:rPr lang="en-US" dirty="0"/>
              <a:t>clearly shows the context of the data presented:</a:t>
            </a:r>
          </a:p>
          <a:p>
            <a:endParaRPr lang="en-US" dirty="0"/>
          </a:p>
          <a:p>
            <a:pPr lvl="3"/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Notice that this data table tells us the </a:t>
            </a:r>
            <a:r>
              <a:rPr lang="en-US" i="1" dirty="0"/>
              <a:t>What </a:t>
            </a:r>
            <a:r>
              <a:rPr lang="en-US" dirty="0"/>
              <a:t>(column) and </a:t>
            </a:r>
            <a:r>
              <a:rPr lang="en-US" i="1" dirty="0"/>
              <a:t>Who</a:t>
            </a:r>
            <a:r>
              <a:rPr lang="en-US" dirty="0"/>
              <a:t> (row) for these data.</a:t>
            </a:r>
          </a:p>
        </p:txBody>
      </p:sp>
      <p:pic>
        <p:nvPicPr>
          <p:cNvPr id="25604" name="Picture 4" descr="T2_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806700"/>
            <a:ext cx="7778750" cy="207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015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Who</a:t>
            </a:r>
          </a:p>
        </p:txBody>
      </p:sp>
      <p:sp>
        <p:nvSpPr>
          <p:cNvPr id="26627" name="Rectangle 2051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>
            <a:normAutofit/>
          </a:bodyPr>
          <a:lstStyle/>
          <a:p>
            <a:r>
              <a:rPr lang="en-US" sz="2800" dirty="0"/>
              <a:t>The </a:t>
            </a:r>
            <a:r>
              <a:rPr lang="en-US" sz="2800" i="1" dirty="0"/>
              <a:t>Who</a:t>
            </a:r>
            <a:r>
              <a:rPr lang="en-US" sz="2800" dirty="0"/>
              <a:t> of the data tells us the </a:t>
            </a:r>
            <a:r>
              <a:rPr lang="en-US" sz="2800" dirty="0">
                <a:solidFill>
                  <a:srgbClr val="FF0066"/>
                </a:solidFill>
              </a:rPr>
              <a:t>cases or individuals </a:t>
            </a:r>
            <a:r>
              <a:rPr lang="en-US" sz="2800" dirty="0"/>
              <a:t>for which (or whom) we have collected data.</a:t>
            </a:r>
          </a:p>
          <a:p>
            <a:pPr lvl="1"/>
            <a:r>
              <a:rPr lang="en-US" sz="2400" dirty="0"/>
              <a:t>Individuals who answer a survey are called </a:t>
            </a:r>
            <a:r>
              <a:rPr lang="en-US" sz="2400" dirty="0">
                <a:solidFill>
                  <a:srgbClr val="FF0066"/>
                </a:solidFill>
              </a:rPr>
              <a:t>respondents.</a:t>
            </a:r>
            <a:endParaRPr lang="en-US" sz="2400" dirty="0"/>
          </a:p>
          <a:p>
            <a:pPr lvl="1"/>
            <a:r>
              <a:rPr lang="en-US" sz="2400" dirty="0"/>
              <a:t>People on whom we experiment are called </a:t>
            </a:r>
            <a:r>
              <a:rPr lang="en-US" sz="2400" dirty="0">
                <a:solidFill>
                  <a:srgbClr val="FF0066"/>
                </a:solidFill>
              </a:rPr>
              <a:t>subjects </a:t>
            </a:r>
            <a:r>
              <a:rPr lang="en-US" sz="2400" dirty="0"/>
              <a:t>or </a:t>
            </a:r>
            <a:r>
              <a:rPr lang="en-US" sz="2400" dirty="0">
                <a:solidFill>
                  <a:srgbClr val="FF0066"/>
                </a:solidFill>
              </a:rPr>
              <a:t>participants.</a:t>
            </a:r>
            <a:endParaRPr lang="en-US" sz="2400" dirty="0"/>
          </a:p>
          <a:p>
            <a:pPr lvl="1"/>
            <a:r>
              <a:rPr lang="en-US" sz="2400" dirty="0"/>
              <a:t>Inanimate subjects are called </a:t>
            </a:r>
            <a:r>
              <a:rPr lang="en-US" sz="2400" dirty="0">
                <a:solidFill>
                  <a:srgbClr val="FF0066"/>
                </a:solidFill>
              </a:rPr>
              <a:t>experimental units.</a:t>
            </a:r>
            <a:endParaRPr lang="en-US" sz="2400" dirty="0"/>
          </a:p>
          <a:p>
            <a:r>
              <a:rPr lang="en-US" sz="2800" dirty="0"/>
              <a:t>Sometimes people just refer to data values as </a:t>
            </a:r>
            <a:r>
              <a:rPr lang="en-US" sz="2800" dirty="0">
                <a:solidFill>
                  <a:srgbClr val="FF0066"/>
                </a:solidFill>
              </a:rPr>
              <a:t>observations.</a:t>
            </a:r>
            <a:endParaRPr 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97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What</a:t>
            </a:r>
          </a:p>
        </p:txBody>
      </p:sp>
      <p:sp>
        <p:nvSpPr>
          <p:cNvPr id="27651" name="Rectangle 1027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r>
              <a:rPr lang="en-US" dirty="0"/>
              <a:t>The characteristics recorded about each individual are called </a:t>
            </a:r>
            <a:r>
              <a:rPr lang="en-US" dirty="0">
                <a:solidFill>
                  <a:srgbClr val="FF0066"/>
                </a:solidFill>
              </a:rPr>
              <a:t>variables.</a:t>
            </a:r>
            <a:r>
              <a:rPr lang="en-US" dirty="0"/>
              <a:t> The variables should mention </a:t>
            </a:r>
            <a:r>
              <a:rPr lang="en-US" i="1" dirty="0"/>
              <a:t>what</a:t>
            </a:r>
            <a:r>
              <a:rPr lang="en-US" dirty="0"/>
              <a:t> has been measured.</a:t>
            </a:r>
          </a:p>
          <a:p>
            <a:r>
              <a:rPr lang="en-US" dirty="0"/>
              <a:t>Variables can be classified as </a:t>
            </a:r>
            <a:r>
              <a:rPr lang="en-US" dirty="0">
                <a:solidFill>
                  <a:srgbClr val="FF0066"/>
                </a:solidFill>
              </a:rPr>
              <a:t>categorical (or qualitative)</a:t>
            </a:r>
            <a:r>
              <a:rPr lang="en-US" dirty="0"/>
              <a:t> or </a:t>
            </a:r>
            <a:r>
              <a:rPr lang="en-US" dirty="0">
                <a:solidFill>
                  <a:srgbClr val="FF0066"/>
                </a:solidFill>
              </a:rPr>
              <a:t>quantitative.</a:t>
            </a:r>
          </a:p>
          <a:p>
            <a:pPr lvl="1"/>
            <a:r>
              <a:rPr lang="en-US" dirty="0"/>
              <a:t>Categorical examples: sex, race, ethnicity</a:t>
            </a:r>
          </a:p>
          <a:p>
            <a:pPr lvl="1"/>
            <a:r>
              <a:rPr lang="en-US" dirty="0"/>
              <a:t>Quantitative examples: income, height, weight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29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What (again)</a:t>
            </a:r>
          </a:p>
        </p:txBody>
      </p:sp>
      <p:sp>
        <p:nvSpPr>
          <p:cNvPr id="28675" name="Rectangle 1027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Some variables fall right in between categorical and quantitative. Such variables are often called </a:t>
            </a:r>
            <a:r>
              <a:rPr lang="en-US" dirty="0">
                <a:solidFill>
                  <a:srgbClr val="FF0066"/>
                </a:solidFill>
              </a:rPr>
              <a:t>ordinal</a:t>
            </a:r>
            <a:r>
              <a:rPr lang="en-US" dirty="0"/>
              <a:t> variables.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An example of an ordinal variable is the place that a runner finishes in a marathon.</a:t>
            </a:r>
          </a:p>
          <a:p>
            <a:pPr>
              <a:lnSpc>
                <a:spcPct val="90000"/>
              </a:lnSpc>
            </a:pPr>
            <a:r>
              <a:rPr lang="en-US" dirty="0"/>
              <a:t>The important thing to remember about the </a:t>
            </a:r>
            <a:r>
              <a:rPr lang="en-US" i="1" dirty="0"/>
              <a:t>What</a:t>
            </a:r>
            <a:r>
              <a:rPr lang="en-US" dirty="0"/>
              <a:t> of the data is that what is measured tells us the meaning of the data values.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77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b="1" i="1" dirty="0">
                <a:solidFill>
                  <a:srgbClr val="FF0000"/>
                </a:solidFill>
              </a:rPr>
              <a:t>Types of Variables</a:t>
            </a:r>
            <a:endParaRPr lang="en-GB" b="1" i="1" dirty="0">
              <a:solidFill>
                <a:srgbClr val="FF0000"/>
              </a:solidFill>
            </a:endParaRPr>
          </a:p>
        </p:txBody>
      </p:sp>
      <p:sp>
        <p:nvSpPr>
          <p:cNvPr id="35847" name="Rectangle 1031"/>
          <p:cNvSpPr>
            <a:spLocks noChangeArrowheads="1"/>
          </p:cNvSpPr>
          <p:nvPr/>
        </p:nvSpPr>
        <p:spPr bwMode="auto">
          <a:xfrm>
            <a:off x="685800" y="1828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GB" sz="3200" dirty="0">
                <a:solidFill>
                  <a:prstClr val="black"/>
                </a:solidFill>
              </a:rPr>
              <a:t>Quantitative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GB" sz="2800" dirty="0">
                <a:solidFill>
                  <a:prstClr val="black"/>
                </a:solidFill>
              </a:rPr>
              <a:t>Measurements - </a:t>
            </a:r>
            <a:r>
              <a:rPr lang="en-GB" sz="2800" i="1" dirty="0">
                <a:solidFill>
                  <a:prstClr val="black"/>
                </a:solidFill>
              </a:rPr>
              <a:t>continuous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GB" sz="2800" dirty="0">
                <a:solidFill>
                  <a:prstClr val="black"/>
                </a:solidFill>
              </a:rPr>
              <a:t>Counts             - </a:t>
            </a:r>
            <a:r>
              <a:rPr lang="en-GB" sz="2800" i="1" dirty="0">
                <a:solidFill>
                  <a:prstClr val="black"/>
                </a:solidFill>
              </a:rPr>
              <a:t>discrete</a:t>
            </a:r>
          </a:p>
          <a:p>
            <a:pPr marL="742950" lvl="1" indent="-285750">
              <a:spcBef>
                <a:spcPct val="20000"/>
              </a:spcBef>
            </a:pPr>
            <a:endParaRPr lang="en-GB" sz="2800" i="1" dirty="0">
              <a:solidFill>
                <a:prstClr val="black"/>
              </a:solidFill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GB" sz="3200" dirty="0">
                <a:solidFill>
                  <a:prstClr val="black"/>
                </a:solidFill>
              </a:rPr>
              <a:t>Qualitative (</a:t>
            </a:r>
            <a:r>
              <a:rPr lang="en-GB" sz="3200" i="1" dirty="0">
                <a:solidFill>
                  <a:prstClr val="black"/>
                </a:solidFill>
              </a:rPr>
              <a:t>factors</a:t>
            </a:r>
            <a:r>
              <a:rPr lang="en-GB" sz="3200" dirty="0">
                <a:solidFill>
                  <a:prstClr val="black"/>
                </a:solidFill>
              </a:rPr>
              <a:t>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GB" sz="2800" dirty="0">
                <a:solidFill>
                  <a:prstClr val="black"/>
                </a:solidFill>
              </a:rPr>
              <a:t>Categorical (group membership)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GB" sz="2800" dirty="0">
                <a:solidFill>
                  <a:prstClr val="black"/>
                </a:solidFill>
              </a:rPr>
              <a:t>Ordinal</a:t>
            </a:r>
          </a:p>
          <a:p>
            <a:pPr marL="742950" lvl="1" indent="-285750">
              <a:spcBef>
                <a:spcPct val="20000"/>
              </a:spcBef>
            </a:pPr>
            <a:endParaRPr lang="en-GB" sz="2800" dirty="0">
              <a:solidFill>
                <a:prstClr val="black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31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1028"/>
          <p:cNvSpPr>
            <a:spLocks noChangeArrowheads="1"/>
          </p:cNvSpPr>
          <p:nvPr/>
        </p:nvSpPr>
        <p:spPr bwMode="auto">
          <a:xfrm>
            <a:off x="685800" y="2209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IE" sz="2800" b="1" dirty="0">
                <a:solidFill>
                  <a:srgbClr val="C0504D"/>
                </a:solidFill>
              </a:rPr>
              <a:t>Quantitative variable</a:t>
            </a:r>
            <a:r>
              <a:rPr lang="en-IE" sz="2800" b="1" dirty="0">
                <a:solidFill>
                  <a:prstClr val="black"/>
                </a:solidFill>
              </a:rPr>
              <a:t> </a:t>
            </a:r>
            <a:r>
              <a:rPr lang="en-IE" sz="2800" dirty="0">
                <a:solidFill>
                  <a:prstClr val="black"/>
                </a:solidFill>
              </a:rPr>
              <a:t>is a variable that can be measured numerically. </a:t>
            </a:r>
          </a:p>
          <a:p>
            <a:pPr marL="342900" indent="-342900">
              <a:spcBef>
                <a:spcPct val="20000"/>
              </a:spcBef>
            </a:pPr>
            <a:endParaRPr lang="en-IE" sz="2800" dirty="0">
              <a:solidFill>
                <a:prstClr val="black"/>
              </a:solidFill>
            </a:endParaRPr>
          </a:p>
          <a:p>
            <a:pPr marL="342900" indent="-342900">
              <a:spcBef>
                <a:spcPct val="20000"/>
              </a:spcBef>
            </a:pPr>
            <a:r>
              <a:rPr lang="en-IE" sz="2800" dirty="0">
                <a:solidFill>
                  <a:prstClr val="black"/>
                </a:solidFill>
              </a:rPr>
              <a:t>The data collected on a quantitative variable are called </a:t>
            </a:r>
            <a:r>
              <a:rPr lang="en-IE" sz="2800" i="1" dirty="0">
                <a:solidFill>
                  <a:prstClr val="black"/>
                </a:solidFill>
              </a:rPr>
              <a:t>quantitative data e.g. </a:t>
            </a:r>
            <a:r>
              <a:rPr lang="en-IE" sz="2800" dirty="0">
                <a:solidFill>
                  <a:prstClr val="black"/>
                </a:solidFill>
              </a:rPr>
              <a:t>incomes, heights, gross sales, prices of homes, number of cars owned, because each of them can be expressed numerically</a:t>
            </a:r>
            <a:endParaRPr lang="en-GB" sz="2800" dirty="0">
              <a:solidFill>
                <a:prstClr val="black"/>
              </a:solidFill>
            </a:endParaRPr>
          </a:p>
        </p:txBody>
      </p:sp>
      <p:sp>
        <p:nvSpPr>
          <p:cNvPr id="44037" name="Rectangle 10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b="1" i="1" dirty="0">
                <a:solidFill>
                  <a:srgbClr val="FF0000"/>
                </a:solidFill>
              </a:rPr>
              <a:t>Quantitative Variable</a:t>
            </a:r>
            <a:endParaRPr lang="en-GB" b="1" i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51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772400" cy="1143000"/>
          </a:xfrm>
        </p:spPr>
        <p:txBody>
          <a:bodyPr/>
          <a:lstStyle/>
          <a:p>
            <a:r>
              <a:rPr lang="en-IE" b="1" dirty="0">
                <a:solidFill>
                  <a:srgbClr val="FF0000"/>
                </a:solidFill>
              </a:rPr>
              <a:t>Discrete variable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6867" name="Rectangle 1027"/>
          <p:cNvSpPr>
            <a:spLocks noGrp="1" noChangeArrowheads="1"/>
          </p:cNvSpPr>
          <p:nvPr>
            <p:ph idx="1"/>
          </p:nvPr>
        </p:nvSpPr>
        <p:spPr>
          <a:xfrm>
            <a:off x="533400" y="2438400"/>
            <a:ext cx="77724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IE" dirty="0"/>
              <a:t>A variable whose values are countable is called a </a:t>
            </a:r>
            <a:r>
              <a:rPr lang="en-IE" b="1" dirty="0"/>
              <a:t>discrete variable</a:t>
            </a:r>
            <a:r>
              <a:rPr lang="en-IE" dirty="0"/>
              <a:t>. </a:t>
            </a:r>
          </a:p>
          <a:p>
            <a:pPr>
              <a:buFontTx/>
              <a:buNone/>
            </a:pPr>
            <a:endParaRPr lang="en-IE" dirty="0"/>
          </a:p>
          <a:p>
            <a:pPr>
              <a:buFontTx/>
              <a:buNone/>
            </a:pPr>
            <a:r>
              <a:rPr lang="en-IE" dirty="0"/>
              <a:t>In other words, a discrete variable can assume only certain values with no intermediate values.</a:t>
            </a:r>
          </a:p>
          <a:p>
            <a:pPr>
              <a:buFontTx/>
              <a:buNone/>
            </a:pPr>
            <a:endParaRPr lang="en-I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810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IE" sz="2800" i="1" dirty="0"/>
              <a:t>e.g. </a:t>
            </a:r>
            <a:r>
              <a:rPr lang="en-IE" sz="2800" dirty="0"/>
              <a:t>the number of cars sold on any day at a car dealership because the number of cars sold must be 0, 1, 2, 3, …. The number of cars sold cannot be between 0 and 1, or between 1 and 2. </a:t>
            </a:r>
          </a:p>
          <a:p>
            <a:pPr>
              <a:lnSpc>
                <a:spcPct val="90000"/>
              </a:lnSpc>
              <a:buFontTx/>
              <a:buNone/>
            </a:pPr>
            <a:endParaRPr lang="en-IE" sz="28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IE" sz="2800" dirty="0"/>
              <a:t>Other examples are  number of people visiting a bank, number of cars in a car-park, the number of cattle owned by a farmer, number of students in a class</a:t>
            </a:r>
            <a:endParaRPr lang="en-GB" sz="2800" i="1" dirty="0"/>
          </a:p>
          <a:p>
            <a:pPr>
              <a:lnSpc>
                <a:spcPct val="90000"/>
              </a:lnSpc>
              <a:buFontTx/>
              <a:buNone/>
            </a:pPr>
            <a:endParaRPr lang="en-GB" sz="2800" dirty="0"/>
          </a:p>
        </p:txBody>
      </p:sp>
      <p:sp>
        <p:nvSpPr>
          <p:cNvPr id="37891" name="Rectangle 2051"/>
          <p:cNvSpPr>
            <a:spLocks noChangeArrowheads="1"/>
          </p:cNvSpPr>
          <p:nvPr/>
        </p:nvSpPr>
        <p:spPr bwMode="auto">
          <a:xfrm>
            <a:off x="609600" y="533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IE" sz="4400" b="1" i="1" dirty="0">
                <a:solidFill>
                  <a:srgbClr val="FF0000"/>
                </a:solidFill>
                <a:latin typeface="Times New Roman" pitchFamily="18" charset="0"/>
              </a:rPr>
              <a:t>Discrete variable</a:t>
            </a:r>
            <a:endParaRPr lang="en-GB" sz="4400" b="1" i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98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>
                <a:solidFill>
                  <a:srgbClr val="FF0000"/>
                </a:solidFill>
              </a:rPr>
              <a:t>Continuous Variable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8915" name="Rectangle 205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IE" dirty="0"/>
              <a:t>A variable that can assume any numerical value over a certain interval is called a </a:t>
            </a:r>
            <a:r>
              <a:rPr lang="en-IE" b="1" dirty="0"/>
              <a:t>continuous variable</a:t>
            </a:r>
            <a:r>
              <a:rPr lang="en-IE" dirty="0"/>
              <a:t>.</a:t>
            </a:r>
          </a:p>
          <a:p>
            <a:pPr>
              <a:buFontTx/>
              <a:buNone/>
            </a:pPr>
            <a:endParaRPr lang="en-IE" dirty="0"/>
          </a:p>
          <a:p>
            <a:pPr>
              <a:buFontTx/>
              <a:buNone/>
            </a:pPr>
            <a:r>
              <a:rPr lang="en-IE" i="1" dirty="0"/>
              <a:t>e.g. </a:t>
            </a:r>
            <a:r>
              <a:rPr lang="en-IE" dirty="0"/>
              <a:t>weights of people, yield of potatoes per acre, height of people 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90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b="1" i="1" dirty="0">
                <a:solidFill>
                  <a:srgbClr val="FF0000"/>
                </a:solidFill>
              </a:rPr>
              <a:t>Qualitative or Categorical Variable</a:t>
            </a:r>
            <a:endParaRPr lang="en-GB" b="1" i="1" dirty="0">
              <a:solidFill>
                <a:srgbClr val="FF0000"/>
              </a:solidFill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  <a:buFontTx/>
              <a:buNone/>
            </a:pPr>
            <a:r>
              <a:rPr lang="en-IE" dirty="0"/>
              <a:t>A variable that cannot assume a numerical value but can be classified into two or more nonnumeric categories is called a </a:t>
            </a:r>
            <a:r>
              <a:rPr lang="en-IE" b="1" dirty="0"/>
              <a:t>qualitative </a:t>
            </a:r>
            <a:r>
              <a:rPr lang="en-IE" dirty="0"/>
              <a:t>or </a:t>
            </a:r>
            <a:r>
              <a:rPr lang="en-IE" b="1" dirty="0"/>
              <a:t>categorical variable. </a:t>
            </a:r>
          </a:p>
          <a:p>
            <a:pPr>
              <a:lnSpc>
                <a:spcPct val="90000"/>
              </a:lnSpc>
              <a:buFontTx/>
              <a:buNone/>
            </a:pPr>
            <a:endParaRPr lang="en-IE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IE" dirty="0"/>
              <a:t>The data collected on such a variable are called </a:t>
            </a:r>
            <a:r>
              <a:rPr lang="en-IE" i="1" dirty="0"/>
              <a:t>qualitative data</a:t>
            </a:r>
            <a:r>
              <a:rPr lang="en-IE" dirty="0"/>
              <a:t>.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97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>
                <a:solidFill>
                  <a:srgbClr val="FF0000"/>
                </a:solidFill>
              </a:rPr>
              <a:t>Types of Qualitative Data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40963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IE" b="1" dirty="0"/>
          </a:p>
          <a:p>
            <a:pPr algn="just">
              <a:buFontTx/>
              <a:buNone/>
            </a:pPr>
            <a:r>
              <a:rPr lang="en-IE" b="1" dirty="0"/>
              <a:t>Nominal </a:t>
            </a:r>
            <a:r>
              <a:rPr lang="en-IE" dirty="0"/>
              <a:t>if there is no natural order between the categories (</a:t>
            </a:r>
            <a:r>
              <a:rPr lang="en-IE" i="1" dirty="0"/>
              <a:t>e.g. </a:t>
            </a:r>
            <a:r>
              <a:rPr lang="en-IE" dirty="0"/>
              <a:t>eye colour)</a:t>
            </a:r>
          </a:p>
          <a:p>
            <a:pPr algn="just">
              <a:buFontTx/>
              <a:buNone/>
            </a:pPr>
            <a:endParaRPr lang="en-IE" dirty="0"/>
          </a:p>
          <a:p>
            <a:pPr algn="just">
              <a:buFontTx/>
              <a:buNone/>
            </a:pPr>
            <a:r>
              <a:rPr lang="en-IE" b="1" dirty="0"/>
              <a:t>Ordinal </a:t>
            </a:r>
            <a:r>
              <a:rPr lang="en-IE" dirty="0"/>
              <a:t>if an ordering exists (</a:t>
            </a:r>
            <a:r>
              <a:rPr lang="en-IE" i="1" dirty="0"/>
              <a:t>e.g. </a:t>
            </a:r>
            <a:r>
              <a:rPr lang="en-IE" dirty="0"/>
              <a:t>exam results, socio-economic status)</a:t>
            </a:r>
            <a:endParaRPr lang="en-GB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42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b="1" i="1" dirty="0">
                <a:solidFill>
                  <a:srgbClr val="FF0000"/>
                </a:solidFill>
              </a:rPr>
              <a:t>Variables</a:t>
            </a:r>
          </a:p>
        </p:txBody>
      </p:sp>
      <p:sp>
        <p:nvSpPr>
          <p:cNvPr id="43011" name="Text Box 1027"/>
          <p:cNvSpPr txBox="1">
            <a:spLocks noChangeArrowheads="1"/>
          </p:cNvSpPr>
          <p:nvPr/>
        </p:nvSpPr>
        <p:spPr bwMode="auto">
          <a:xfrm>
            <a:off x="3886200" y="1905000"/>
            <a:ext cx="10668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IE" sz="2000">
                <a:latin typeface="Times New Roman" pitchFamily="18" charset="0"/>
              </a:rPr>
              <a:t>Variable</a:t>
            </a:r>
            <a:endParaRPr lang="en-GB" sz="2000">
              <a:latin typeface="Times New Roman" pitchFamily="18" charset="0"/>
            </a:endParaRPr>
          </a:p>
        </p:txBody>
      </p:sp>
      <p:sp>
        <p:nvSpPr>
          <p:cNvPr id="43012" name="Line 1028"/>
          <p:cNvSpPr>
            <a:spLocks noChangeShapeType="1"/>
          </p:cNvSpPr>
          <p:nvPr/>
        </p:nvSpPr>
        <p:spPr bwMode="auto">
          <a:xfrm>
            <a:off x="4419600" y="2362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3" name="Line 1029"/>
          <p:cNvSpPr>
            <a:spLocks noChangeShapeType="1"/>
          </p:cNvSpPr>
          <p:nvPr/>
        </p:nvSpPr>
        <p:spPr bwMode="auto">
          <a:xfrm>
            <a:off x="2438400" y="2819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4" name="Line 1030"/>
          <p:cNvSpPr>
            <a:spLocks noChangeShapeType="1"/>
          </p:cNvSpPr>
          <p:nvPr/>
        </p:nvSpPr>
        <p:spPr bwMode="auto">
          <a:xfrm>
            <a:off x="2438400" y="2819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5" name="Line 1031"/>
          <p:cNvSpPr>
            <a:spLocks noChangeShapeType="1"/>
          </p:cNvSpPr>
          <p:nvPr/>
        </p:nvSpPr>
        <p:spPr bwMode="auto">
          <a:xfrm>
            <a:off x="6781800" y="2819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6" name="Text Box 1032"/>
          <p:cNvSpPr txBox="1">
            <a:spLocks noChangeArrowheads="1"/>
          </p:cNvSpPr>
          <p:nvPr/>
        </p:nvSpPr>
        <p:spPr bwMode="auto">
          <a:xfrm>
            <a:off x="1828800" y="3429000"/>
            <a:ext cx="243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IE" sz="2000">
                <a:latin typeface="Times New Roman" pitchFamily="18" charset="0"/>
              </a:rPr>
              <a:t>Quantiative</a:t>
            </a:r>
            <a:endParaRPr lang="en-GB" sz="2000">
              <a:latin typeface="Times New Roman" pitchFamily="18" charset="0"/>
            </a:endParaRPr>
          </a:p>
        </p:txBody>
      </p:sp>
      <p:sp>
        <p:nvSpPr>
          <p:cNvPr id="43017" name="Line 1033"/>
          <p:cNvSpPr>
            <a:spLocks noChangeShapeType="1"/>
          </p:cNvSpPr>
          <p:nvPr/>
        </p:nvSpPr>
        <p:spPr bwMode="auto">
          <a:xfrm>
            <a:off x="2438400" y="3962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8" name="Line 1034"/>
          <p:cNvSpPr>
            <a:spLocks noChangeShapeType="1"/>
          </p:cNvSpPr>
          <p:nvPr/>
        </p:nvSpPr>
        <p:spPr bwMode="auto">
          <a:xfrm>
            <a:off x="990600" y="4419600"/>
            <a:ext cx="312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9" name="Line 1035"/>
          <p:cNvSpPr>
            <a:spLocks noChangeShapeType="1"/>
          </p:cNvSpPr>
          <p:nvPr/>
        </p:nvSpPr>
        <p:spPr bwMode="auto">
          <a:xfrm>
            <a:off x="990600" y="441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0" name="Line 1036"/>
          <p:cNvSpPr>
            <a:spLocks noChangeShapeType="1"/>
          </p:cNvSpPr>
          <p:nvPr/>
        </p:nvSpPr>
        <p:spPr bwMode="auto">
          <a:xfrm>
            <a:off x="4114800" y="441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1" name="Text Box 1037"/>
          <p:cNvSpPr txBox="1">
            <a:spLocks noChangeArrowheads="1"/>
          </p:cNvSpPr>
          <p:nvPr/>
        </p:nvSpPr>
        <p:spPr bwMode="auto">
          <a:xfrm>
            <a:off x="304800" y="5029200"/>
            <a:ext cx="21336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IE" sz="2000">
                <a:latin typeface="Times New Roman" pitchFamily="18" charset="0"/>
              </a:rPr>
              <a:t>Discrete (e.g. number of houses, cars, accidents)</a:t>
            </a:r>
            <a:endParaRPr lang="en-GB" sz="2000">
              <a:latin typeface="Times New Roman" pitchFamily="18" charset="0"/>
            </a:endParaRPr>
          </a:p>
        </p:txBody>
      </p:sp>
      <p:sp>
        <p:nvSpPr>
          <p:cNvPr id="43022" name="Text Box 1038"/>
          <p:cNvSpPr txBox="1">
            <a:spLocks noChangeArrowheads="1"/>
          </p:cNvSpPr>
          <p:nvPr/>
        </p:nvSpPr>
        <p:spPr bwMode="auto">
          <a:xfrm>
            <a:off x="3200400" y="5029200"/>
            <a:ext cx="2438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IE" sz="2000">
                <a:latin typeface="Times New Roman" pitchFamily="18" charset="0"/>
              </a:rPr>
              <a:t>Continuous (e.g. length, age, height, weight, time)</a:t>
            </a:r>
            <a:endParaRPr lang="en-GB" sz="2000">
              <a:latin typeface="Times New Roman" pitchFamily="18" charset="0"/>
            </a:endParaRPr>
          </a:p>
        </p:txBody>
      </p:sp>
      <p:sp>
        <p:nvSpPr>
          <p:cNvPr id="43023" name="Text Box 1039"/>
          <p:cNvSpPr txBox="1">
            <a:spLocks noChangeArrowheads="1"/>
          </p:cNvSpPr>
          <p:nvPr/>
        </p:nvSpPr>
        <p:spPr bwMode="auto">
          <a:xfrm>
            <a:off x="5638800" y="3352800"/>
            <a:ext cx="30480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IE" sz="2000">
                <a:latin typeface="Times New Roman" pitchFamily="18" charset="0"/>
              </a:rPr>
              <a:t>Qualitative or Categorical (e.g. make of computer, hair colour, gender)</a:t>
            </a:r>
            <a:endParaRPr lang="en-GB" sz="2000">
              <a:latin typeface="Times New Roman" pitchFamily="18" charset="0"/>
            </a:endParaRPr>
          </a:p>
        </p:txBody>
      </p:sp>
      <p:sp>
        <p:nvSpPr>
          <p:cNvPr id="43024" name="Line 1040"/>
          <p:cNvSpPr>
            <a:spLocks noChangeShapeType="1"/>
          </p:cNvSpPr>
          <p:nvPr/>
        </p:nvSpPr>
        <p:spPr bwMode="auto">
          <a:xfrm>
            <a:off x="70104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5" name="Line 1041"/>
          <p:cNvSpPr>
            <a:spLocks noChangeShapeType="1"/>
          </p:cNvSpPr>
          <p:nvPr/>
        </p:nvSpPr>
        <p:spPr bwMode="auto">
          <a:xfrm>
            <a:off x="5562600" y="4876800"/>
            <a:ext cx="312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6" name="Line 1042"/>
          <p:cNvSpPr>
            <a:spLocks noChangeShapeType="1"/>
          </p:cNvSpPr>
          <p:nvPr/>
        </p:nvSpPr>
        <p:spPr bwMode="auto">
          <a:xfrm>
            <a:off x="5562600" y="487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7" name="Line 1043"/>
          <p:cNvSpPr>
            <a:spLocks noChangeShapeType="1"/>
          </p:cNvSpPr>
          <p:nvPr/>
        </p:nvSpPr>
        <p:spPr bwMode="auto">
          <a:xfrm>
            <a:off x="8686800" y="487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8" name="Text Box 1044"/>
          <p:cNvSpPr txBox="1">
            <a:spLocks noChangeArrowheads="1"/>
          </p:cNvSpPr>
          <p:nvPr/>
        </p:nvSpPr>
        <p:spPr bwMode="auto">
          <a:xfrm>
            <a:off x="5257800" y="5562600"/>
            <a:ext cx="1752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IE" sz="2000">
                <a:latin typeface="Times New Roman" pitchFamily="18" charset="0"/>
              </a:rPr>
              <a:t>Nominal (e.g. eye colur)</a:t>
            </a:r>
            <a:endParaRPr lang="en-GB" sz="2000">
              <a:latin typeface="Times New Roman" pitchFamily="18" charset="0"/>
            </a:endParaRPr>
          </a:p>
        </p:txBody>
      </p:sp>
      <p:sp>
        <p:nvSpPr>
          <p:cNvPr id="43029" name="Text Box 1045"/>
          <p:cNvSpPr txBox="1">
            <a:spLocks noChangeArrowheads="1"/>
          </p:cNvSpPr>
          <p:nvPr/>
        </p:nvSpPr>
        <p:spPr bwMode="auto">
          <a:xfrm>
            <a:off x="7239000" y="5486400"/>
            <a:ext cx="1752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IE" sz="2000" dirty="0">
                <a:latin typeface="Times New Roman" pitchFamily="18" charset="0"/>
              </a:rPr>
              <a:t>Ordinal (e.g. exam results)</a:t>
            </a:r>
            <a:endParaRPr lang="en-GB" sz="2000" dirty="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D10F-D739-4374-BE18-EF13C215ADBA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58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14400"/>
          </a:xfrm>
        </p:spPr>
        <p:txBody>
          <a:bodyPr/>
          <a:lstStyle/>
          <a:p>
            <a:r>
              <a:rPr lang="en-GB"/>
              <a:t>Example Data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700213"/>
            <a:ext cx="4953000" cy="4471987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GB" sz="1800"/>
              <a:t>Age	Years	Gender	Weight	Height	</a:t>
            </a:r>
          </a:p>
          <a:p>
            <a:pPr>
              <a:buFontTx/>
              <a:buNone/>
            </a:pPr>
            <a:r>
              <a:rPr lang="en-GB" sz="1800"/>
              <a:t>				  (kg)	  (mm)	</a:t>
            </a:r>
          </a:p>
          <a:p>
            <a:pPr>
              <a:buFontTx/>
              <a:buNone/>
            </a:pPr>
            <a:r>
              <a:rPr lang="en-GB" sz="1800"/>
              <a:t>21		1	male	71.0	1629	</a:t>
            </a:r>
          </a:p>
          <a:p>
            <a:pPr>
              <a:buFontTx/>
              <a:buNone/>
            </a:pPr>
            <a:r>
              <a:rPr lang="en-GB" sz="1800"/>
              <a:t>22		6	female	56.5	1569	</a:t>
            </a:r>
          </a:p>
          <a:p>
            <a:pPr>
              <a:buFontTx/>
              <a:buNone/>
            </a:pPr>
            <a:r>
              <a:rPr lang="en-GB" sz="1800"/>
              <a:t>24		5	male	56.0	1561	</a:t>
            </a:r>
          </a:p>
          <a:p>
            <a:pPr>
              <a:buFontTx/>
              <a:buNone/>
            </a:pPr>
            <a:r>
              <a:rPr lang="en-GB" sz="1800"/>
              <a:t>24		1	male	61.0	1619	</a:t>
            </a:r>
          </a:p>
          <a:p>
            <a:pPr>
              <a:buFontTx/>
              <a:buNone/>
            </a:pPr>
            <a:r>
              <a:rPr lang="en-GB" sz="1800"/>
              <a:t>25		1	female	65.0	1566	</a:t>
            </a:r>
          </a:p>
          <a:p>
            <a:pPr>
              <a:buFontTx/>
              <a:buNone/>
            </a:pPr>
            <a:r>
              <a:rPr lang="en-GB" sz="1800"/>
              <a:t>27		19	male	62.0	1639	</a:t>
            </a:r>
          </a:p>
          <a:p>
            <a:pPr>
              <a:buFontTx/>
              <a:buNone/>
            </a:pPr>
            <a:r>
              <a:rPr lang="en-GB" sz="1800"/>
              <a:t>28		5	female	53.0	1494	</a:t>
            </a:r>
          </a:p>
          <a:p>
            <a:pPr>
              <a:buFontTx/>
              <a:buNone/>
            </a:pPr>
            <a:r>
              <a:rPr lang="en-GB" sz="1800"/>
              <a:t>28		25	female	53.0	1568	</a:t>
            </a:r>
          </a:p>
          <a:p>
            <a:pPr>
              <a:buFontTx/>
              <a:buNone/>
            </a:pPr>
            <a:r>
              <a:rPr lang="en-GB" sz="1800"/>
              <a:t>31		6	female	65.0	1540	</a:t>
            </a:r>
          </a:p>
          <a:p>
            <a:pPr>
              <a:buFontTx/>
              <a:buNone/>
            </a:pPr>
            <a:r>
              <a:rPr lang="en-GB" sz="1800"/>
              <a:t>32		13	male	57.0	1530	</a:t>
            </a:r>
          </a:p>
          <a:p>
            <a:pPr>
              <a:buFontTx/>
              <a:buNone/>
            </a:pPr>
            <a:r>
              <a:rPr lang="en-GB" sz="1800"/>
              <a:t>33		13	male	66.5	1622	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 flipV="1">
            <a:off x="4479925" y="1752600"/>
            <a:ext cx="329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>
            <a:spAutoFit/>
          </a:bodyPr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2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Example: </a:t>
            </a:r>
            <a:r>
              <a:rPr lang="en-US" b="1" dirty="0" err="1" smtClean="0">
                <a:solidFill>
                  <a:srgbClr val="FF0000"/>
                </a:solidFill>
              </a:rPr>
              <a:t>Colours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To most people, the colors: black, brown, red, orange, yellow, green, blue, violet, gray, and white are just names of colors.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To </a:t>
            </a:r>
            <a:r>
              <a:rPr lang="en-US" dirty="0"/>
              <a:t>an electronics student familiar with color-coded resistors, this data is in ascending order and thus represents at least ordinal data.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To </a:t>
            </a:r>
            <a:r>
              <a:rPr lang="en-US" dirty="0"/>
              <a:t>a physicist, the colors: red, orange, yellow, green, blue, and violet correspond to specific wavelengths of light and would be an example of ratio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B5C9A-AC19-4DE7-95A3-923D899ED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020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923</Words>
  <Application>Microsoft Office PowerPoint</Application>
  <PresentationFormat>On-screen Show (4:3)</PresentationFormat>
  <Paragraphs>113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1_Office Theme</vt:lpstr>
      <vt:lpstr>PowerPoint Presentation</vt:lpstr>
      <vt:lpstr>What Are Data?</vt:lpstr>
      <vt:lpstr>The “Five W’s”</vt:lpstr>
      <vt:lpstr>Example of Data Organized</vt:lpstr>
      <vt:lpstr>Who</vt:lpstr>
      <vt:lpstr>What</vt:lpstr>
      <vt:lpstr>What (again)</vt:lpstr>
      <vt:lpstr>Types of Variables</vt:lpstr>
      <vt:lpstr>Quantitative Variable</vt:lpstr>
      <vt:lpstr>Discrete variable</vt:lpstr>
      <vt:lpstr>PowerPoint Presentation</vt:lpstr>
      <vt:lpstr>Continuous Variable</vt:lpstr>
      <vt:lpstr>Qualitative or Categorical Variable</vt:lpstr>
      <vt:lpstr>Types of Qualitative Data</vt:lpstr>
      <vt:lpstr>Variables</vt:lpstr>
      <vt:lpstr>Example Data</vt:lpstr>
      <vt:lpstr>Example: Colours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Noreen</dc:creator>
  <cp:lastModifiedBy>Noreen Quinn</cp:lastModifiedBy>
  <cp:revision>1</cp:revision>
  <dcterms:created xsi:type="dcterms:W3CDTF">2014-09-13T21:10:20Z</dcterms:created>
  <dcterms:modified xsi:type="dcterms:W3CDTF">2020-09-24T08:47:32Z</dcterms:modified>
</cp:coreProperties>
</file>